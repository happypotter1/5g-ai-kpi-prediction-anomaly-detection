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ca477324094def" /><Relationship Type="http://schemas.openxmlformats.org/officeDocument/2006/relationships/extended-properties" Target="/docProps/app.xml" Id="Ra6f7c2c3dcac4628" /><Relationship Type="http://schemas.openxmlformats.org/officeDocument/2006/relationships/officeDocument" Target="/ppt/presentation.xml" Id="R9f71254dcaac48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b14d1d03a6401a"/>
  </p:sldMasterIdLst>
  <p:notesMasterIdLst>
    <p:notesMasterId xmlns:r="http://schemas.openxmlformats.org/officeDocument/2006/relationships" r:id="R90ad184a5e0d457d"/>
  </p:notesMasterIdLst>
  <p:sldIdLst>
    <p:sldId xmlns:r="http://schemas.openxmlformats.org/officeDocument/2006/relationships" id="256" r:id="R5626bd9ec8994b39"/>
    <p:sldId xmlns:r="http://schemas.openxmlformats.org/officeDocument/2006/relationships" id="257" r:id="R4ebc93e434ac4e77"/>
    <p:sldId xmlns:r="http://schemas.openxmlformats.org/officeDocument/2006/relationships" id="258" r:id="R44f013f59a82412e"/>
    <p:sldId xmlns:r="http://schemas.openxmlformats.org/officeDocument/2006/relationships" id="259" r:id="R6e062ba4728f48bc"/>
    <p:sldId xmlns:r="http://schemas.openxmlformats.org/officeDocument/2006/relationships" id="260" r:id="Re4ce5320977b47e3"/>
    <p:sldId xmlns:r="http://schemas.openxmlformats.org/officeDocument/2006/relationships" id="261" r:id="R2c25358e33b74be5"/>
    <p:sldId xmlns:r="http://schemas.openxmlformats.org/officeDocument/2006/relationships" id="262" r:id="R5feb1713522e4c49"/>
    <p:sldId xmlns:r="http://schemas.openxmlformats.org/officeDocument/2006/relationships" id="263" r:id="Rda98d11f397443e3"/>
    <p:sldId xmlns:r="http://schemas.openxmlformats.org/officeDocument/2006/relationships" id="264" r:id="Rc706404349ac414b"/>
    <p:sldId xmlns:r="http://schemas.openxmlformats.org/officeDocument/2006/relationships" id="265" r:id="R07b6aa865df7462b"/>
    <p:sldId xmlns:r="http://schemas.openxmlformats.org/officeDocument/2006/relationships" id="266" r:id="R47ff616ace6844c3"/>
    <p:sldId xmlns:r="http://schemas.openxmlformats.org/officeDocument/2006/relationships" id="267" r:id="Ree8a939f4834436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a236efb32b46c8" /><Relationship Type="http://schemas.openxmlformats.org/officeDocument/2006/relationships/slideMaster" Target="/ppt/slideMasters/slideMaster1.xml" Id="Rbbb14d1d03a6401a" /><Relationship Type="http://schemas.openxmlformats.org/officeDocument/2006/relationships/notesMaster" Target="/ppt/notesMasters/notesMaster1.xml" Id="R90ad184a5e0d457d" /><Relationship Type="http://schemas.openxmlformats.org/officeDocument/2006/relationships/presProps" Target="/ppt/presProps.xml" Id="R3a651630e1384a05" /><Relationship Type="http://schemas.openxmlformats.org/officeDocument/2006/relationships/tableStyles" Target="/ppt/tableStyles.xml" Id="R70b1b447a3a44474" /><Relationship Type="http://schemas.openxmlformats.org/officeDocument/2006/relationships/slide" Target="/ppt/slides/slide1.xml" Id="R5626bd9ec8994b39" /><Relationship Type="http://schemas.openxmlformats.org/officeDocument/2006/relationships/slide" Target="/ppt/slides/slide2.xml" Id="R4ebc93e434ac4e77" /><Relationship Type="http://schemas.openxmlformats.org/officeDocument/2006/relationships/slide" Target="/ppt/slides/slide3.xml" Id="R44f013f59a82412e" /><Relationship Type="http://schemas.openxmlformats.org/officeDocument/2006/relationships/slide" Target="/ppt/slides/slide4.xml" Id="R6e062ba4728f48bc" /><Relationship Type="http://schemas.openxmlformats.org/officeDocument/2006/relationships/slide" Target="/ppt/slides/slide5.xml" Id="Re4ce5320977b47e3" /><Relationship Type="http://schemas.openxmlformats.org/officeDocument/2006/relationships/slide" Target="/ppt/slides/slide6.xml" Id="R2c25358e33b74be5" /><Relationship Type="http://schemas.openxmlformats.org/officeDocument/2006/relationships/slide" Target="/ppt/slides/slide7.xml" Id="R5feb1713522e4c49" /><Relationship Type="http://schemas.openxmlformats.org/officeDocument/2006/relationships/slide" Target="/ppt/slides/slide8.xml" Id="Rda98d11f397443e3" /><Relationship Type="http://schemas.openxmlformats.org/officeDocument/2006/relationships/slide" Target="/ppt/slides/slide9.xml" Id="Rc706404349ac414b" /><Relationship Type="http://schemas.openxmlformats.org/officeDocument/2006/relationships/slide" Target="/ppt/slides/slide10.xml" Id="R07b6aa865df7462b" /><Relationship Type="http://schemas.openxmlformats.org/officeDocument/2006/relationships/slide" Target="/ppt/slides/slide11.xml" Id="R47ff616ace6844c3" /><Relationship Type="http://schemas.openxmlformats.org/officeDocument/2006/relationships/slide" Target="/ppt/slides/slide12.xml" Id="Ree8a939f483443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5e316f8f894b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9529eb8d9a44c9" /><Relationship Type="http://schemas.openxmlformats.org/officeDocument/2006/relationships/notesMaster" Target="/ppt/notesMasters/notesMaster1.xml" Id="R9a12631e755c4d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4acf8cac35447a0" /><Relationship Type="http://schemas.openxmlformats.org/officeDocument/2006/relationships/notesMaster" Target="/ppt/notesMasters/notesMaster1.xml" Id="R4798ff4575df44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0996518e8a04ce5" /><Relationship Type="http://schemas.openxmlformats.org/officeDocument/2006/relationships/notesMaster" Target="/ppt/notesMasters/notesMaster1.xml" Id="Rc91bc1e915dd4b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8a49ba4d41e44a6" /><Relationship Type="http://schemas.openxmlformats.org/officeDocument/2006/relationships/notesMaster" Target="/ppt/notesMasters/notesMaster1.xml" Id="Rf6b5ada96763467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e3a1068dc94da5" /><Relationship Type="http://schemas.openxmlformats.org/officeDocument/2006/relationships/notesMaster" Target="/ppt/notesMasters/notesMaster1.xml" Id="Rba58fcd662974c2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9c11ee26b14b4f" /><Relationship Type="http://schemas.openxmlformats.org/officeDocument/2006/relationships/notesMaster" Target="/ppt/notesMasters/notesMaster1.xml" Id="R735b960f95db49d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9dfb00b50b34bcc" /><Relationship Type="http://schemas.openxmlformats.org/officeDocument/2006/relationships/notesMaster" Target="/ppt/notesMasters/notesMaster1.xml" Id="R052f74e7c23b4ca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1e608a5f48f437c" /><Relationship Type="http://schemas.openxmlformats.org/officeDocument/2006/relationships/notesMaster" Target="/ppt/notesMasters/notesMaster1.xml" Id="Ra8c2927a6b50426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c15c30d9c994ebd" /><Relationship Type="http://schemas.openxmlformats.org/officeDocument/2006/relationships/notesMaster" Target="/ppt/notesMasters/notesMaster1.xml" Id="Rb87326fddae0455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701d9ea0cd0444b" /><Relationship Type="http://schemas.openxmlformats.org/officeDocument/2006/relationships/notesMaster" Target="/ppt/notesMasters/notesMaster1.xml" Id="R91c78658b01e41c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68fa698a10547d4" /><Relationship Type="http://schemas.openxmlformats.org/officeDocument/2006/relationships/notesMaster" Target="/ppt/notesMasters/notesMaster1.xml" Id="R954ddfaf280d4ef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d3b05972a29486f" /><Relationship Type="http://schemas.openxmlformats.org/officeDocument/2006/relationships/notesMaster" Target="/ppt/notesMasters/notesMaster1.xml" Id="R1e0bf6fb290f45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根据第1至第8周已恢复的实验、代码和报告整理。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该时间线只陈述已有证据，不把已丢失的 Ubuntu 环境说成已经恢复。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第1周与第2周是不同会话；不得将4/4和5/5当作同一轮测试。证据来自归档报告和抓包记录。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图来自第3周恢复包；原始 DLPRB_train_0w-5w.csv 未在当前环境中找到。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指标来自第4周恢复的模型结果；图为统一任务下的 RMSE 对照。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固定种子补充实验 Full Transformer RMSE 0.010289、Single Head 0.010169、Reduced FFN 0.010289、No Positional Encoding 0.010330；与历史第5周实验范围不同。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阈值按当前恢复的归一化 CSV 复核；统计法零计数只对应一维均值口径。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二维 PCA 图仅用于展示；检测器在20维主成分空间运行。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贡献分数是集合级关联排序，不是单点根因，也不是因果关系。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本地网址只在服务启动且电脑可用时访问，不是公网部署地址。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测试命令：python -m pytest week7/tests -q。工程包与主工作区均要完成复核。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若 GitHub 发布尚未完成，不能称已有公网仓库；工程包可以作为上传源。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a6826c20e74f7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91725e7f0d4a26" /><Relationship Type="http://schemas.openxmlformats.org/officeDocument/2006/relationships/slideLayout" Target="/ppt/slideLayouts/slideLayout1.xml" Id="R5771b17e2ede44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71b17e2ede44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851c8e985b478d" /><Relationship Type="http://schemas.openxmlformats.org/officeDocument/2006/relationships/notesSlide" Target="/ppt/notesSlides/notesSlide1.xml" Id="Rc9e9b8ceecbf45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f99608840c45ec" /><Relationship Type="http://schemas.openxmlformats.org/officeDocument/2006/relationships/notesSlide" Target="/ppt/notesSlides/notesSlide2.xml" Id="R29d6eb0f552546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e4c62785f3467e" /><Relationship Type="http://schemas.openxmlformats.org/officeDocument/2006/relationships/notesSlide" Target="/ppt/notesSlides/notesSlide3.xml" Id="Rb0bf6d3f9d9a43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5703174adf4e4e" /><Relationship Type="http://schemas.openxmlformats.org/officeDocument/2006/relationships/image" Target="/ppt/media/image.png" Id="R69c10397a38f4eb9" /><Relationship Type="http://schemas.openxmlformats.org/officeDocument/2006/relationships/notesSlide" Target="/ppt/notesSlides/notesSlide4.xml" Id="R2150bb3ff51446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691a80c7ca4f18" /><Relationship Type="http://schemas.openxmlformats.org/officeDocument/2006/relationships/image" Target="/ppt/media/image2.png" Id="R724d90ecfa2c4a89" /><Relationship Type="http://schemas.openxmlformats.org/officeDocument/2006/relationships/notesSlide" Target="/ppt/notesSlides/notesSlide5.xml" Id="R06c356f49463492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9aec7eea644519" /><Relationship Type="http://schemas.openxmlformats.org/officeDocument/2006/relationships/image" Target="/ppt/media/image3.png" Id="Rcf0726e76ba94931" /><Relationship Type="http://schemas.openxmlformats.org/officeDocument/2006/relationships/notesSlide" Target="/ppt/notesSlides/notesSlide6.xml" Id="R8783d40fd52441e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68007b1e43439a" /><Relationship Type="http://schemas.openxmlformats.org/officeDocument/2006/relationships/image" Target="/ppt/media/image4.png" Id="Rd40156d20468431a" /><Relationship Type="http://schemas.openxmlformats.org/officeDocument/2006/relationships/notesSlide" Target="/ppt/notesSlides/notesSlide7.xml" Id="R462281c5c568463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ef545bffa941db" /><Relationship Type="http://schemas.openxmlformats.org/officeDocument/2006/relationships/image" Target="/ppt/media/image5.png" Id="R5e76bdd595f6461e" /><Relationship Type="http://schemas.openxmlformats.org/officeDocument/2006/relationships/notesSlide" Target="/ppt/notesSlides/notesSlide8.xml" Id="R23578b3ee55747d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de0c630fd34f23" /><Relationship Type="http://schemas.openxmlformats.org/officeDocument/2006/relationships/image" Target="/ppt/media/image6.png" Id="R363084699f0f4b8e" /><Relationship Type="http://schemas.openxmlformats.org/officeDocument/2006/relationships/notesSlide" Target="/ppt/notesSlides/notesSlide9.xml" Id="R3201628832ce486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ce21599ff94dbc" /><Relationship Type="http://schemas.openxmlformats.org/officeDocument/2006/relationships/notesSlide" Target="/ppt/notesSlides/notesSlide10.xml" Id="R87f22eaf85364c0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351885768a41f1" /><Relationship Type="http://schemas.openxmlformats.org/officeDocument/2006/relationships/notesSlide" Target="/ppt/notesSlides/notesSlide11.xml" Id="R3d4b329abe2741d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2d3132c2544d09" /><Relationship Type="http://schemas.openxmlformats.org/officeDocument/2006/relationships/notesSlide" Target="/ppt/notesSlides/notesSlide12.xml" Id="R6c41edeac4be4a0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22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4CFFB8-EC07-4614-AC77-E75753F3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38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1AD807-B89D-42BA-ADC6-DC6FEE25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5G 网络 KPI 预测与异常检测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8A1A8C-2C34-4BB0-ADB9-F47126AE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B7DF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B7DFF0"/>
                </a:solidFill>
                <a:latin typeface="Microsoft YaHei"/>
                <a:ea typeface="Microsoft YaHei"/>
                <a:cs typeface="Microsoft YaHei"/>
              </a:rPr>
              <a:t>八周项目技术结项汇报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FD5053-17BD-4EA2-B43D-CBE8B963C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67125"/>
            <a:ext cx="523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FA0997-055F-4D43-BF3F-28441C72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955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系统集成 · 结果复核 · 交付与边界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1BC095-776B-451A-805A-E9A2181E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531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4D5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4D5E2"/>
                </a:solidFill>
                <a:latin typeface="Microsoft YaHei"/>
                <a:ea typeface="Microsoft YaHei"/>
                <a:cs typeface="Microsoft YaHei"/>
              </a:rPr>
              <a:t>2026 年 9 月 26 日</a:t>
            </a:r>
          </a:p>
        </p:txBody>
      </p:sp>
    </p:spTree>
    <p:extLst>
      <p:ext uri="{BB962C8B-B14F-4D97-AF65-F5344CB8AC3E}">
        <p14:creationId xmlns:p14="http://schemas.microsoft.com/office/powerpoint/2010/main" val="14717147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6B3506-76A1-443E-9234-4933C42EE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A910A4-8871-4BA7-97B5-BECB2ED3E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350"/>
            <a:ext cx="12192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3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F381CF-08BE-41A5-B8E4-C4FC16B5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八周工作脉络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9BA6D7-BB57-4405-9FA9-957604D3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083"/>
                </a:solidFill>
                <a:latin typeface="Microsoft YaHei"/>
                <a:ea typeface="Microsoft YaHei"/>
                <a:cs typeface="Microsoft YaHei"/>
              </a:rPr>
              <a:t>项目路径 / 从网络到 Web 展示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2E73C4-5B90-4C58-ACB6-D968CD32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0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0708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608C8F-AA1F-4E46-BC1A-9944CB817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110490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5F2F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0337E4-79D3-4170-AA63-2E566FDB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543050"/>
            <a:ext cx="123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6C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6C94"/>
                </a:solidFill>
                <a:latin typeface="Microsoft YaHei"/>
                <a:ea typeface="Microsoft YaHei"/>
                <a:cs typeface="Microsoft YaHei"/>
              </a:rPr>
              <a:t>01–02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419307-425A-4A01-8115-DD445920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543050"/>
            <a:ext cx="885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rPr>
              <a:t>5G 仿真链路与协议抓包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F5B9D6-3C4A-4BBB-9D65-0F647D22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00275"/>
            <a:ext cx="110490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722678-BC28-4B03-888C-574364179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266950"/>
            <a:ext cx="123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6C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6C9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5A2E06-9F60-4E63-B42F-A6745995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266950"/>
            <a:ext cx="885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rPr>
              <a:t>DLPRB 清洗与归一化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C78CF4-C420-4062-85D9-C7642556E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24175"/>
            <a:ext cx="110490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5F2F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0830A6-9C33-4F6A-B479-CCDB12F3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990850"/>
            <a:ext cx="123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6C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6C9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61ACAA-DEE3-41B9-BFF1-5D8389A88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990850"/>
            <a:ext cx="885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rPr>
              <a:t>传统机器学习预测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0172F6-4CA6-48C4-ABD8-BEA87500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48075"/>
            <a:ext cx="110490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A478F2-0196-4F59-9D51-69723AE2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714750"/>
            <a:ext cx="123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6C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6C94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5C03DE-BAC2-425C-B694-BC653C24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714750"/>
            <a:ext cx="885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rPr>
              <a:t>深度学习与 Transformer 消融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50C2BD-BAF1-483A-A349-878132AD0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71975"/>
            <a:ext cx="110490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5F2F4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639A3D-04C1-467C-9285-DE266485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438650"/>
            <a:ext cx="123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6C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6C94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4DB15E-75ED-416E-B463-CDE8691B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438650"/>
            <a:ext cx="885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rPr>
              <a:t>无监督异常与 KPI 候选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E6E44B-0554-4829-8C97-6D30EAC4D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95875"/>
            <a:ext cx="110490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874FD2-D58E-481B-9C4F-DF40DFC5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162550"/>
            <a:ext cx="123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6C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6C94"/>
                </a:solidFill>
                <a:latin typeface="Microsoft YaHei"/>
                <a:ea typeface="Microsoft YaHei"/>
                <a:cs typeface="Microsoft YaHei"/>
              </a:rPr>
              <a:t>07–08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A7BA6F-FDED-4324-B387-7BB67B85E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162550"/>
            <a:ext cx="885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rPr>
              <a:t>Web 集成、测试与结项</a:t>
            </a:r>
          </a:p>
        </p:txBody>
      </p:sp>
    </p:spTree>
    <p:extLst>
      <p:ext uri="{BB962C8B-B14F-4D97-AF65-F5344CB8AC3E}">
        <p14:creationId xmlns:p14="http://schemas.microsoft.com/office/powerpoint/2010/main" val="6570174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9B2619-ABF3-4951-94A8-2CCE6A05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2D3240-82CC-4CD9-9DA2-6DAA43115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350"/>
            <a:ext cx="12192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3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0A3475-6E80-44E9-9009-E22C65771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1–2 周：连通性与协议证据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B1BCC3-3E12-4860-B9E6-52D4338D3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083"/>
                </a:solidFill>
                <a:latin typeface="Microsoft YaHei"/>
                <a:ea typeface="Microsoft YaHei"/>
                <a:cs typeface="Microsoft YaHei"/>
              </a:rPr>
              <a:t>实验基础 / 历史材料复核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4DC29C-A434-4EAC-A715-C8E95BE1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0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0708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80602E-69E0-4CAD-80FF-B065A9B8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A63CDC-8E90-4744-9B8C-AB829D770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19250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31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rPr>
              <a:t>Week 1：free5GC + UERANSIM 端到端连通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DF5943-C5FA-4D3E-A74C-66A1C1A4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14922C-3398-4BF5-89D7-9D37913A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rPr>
              <a:t>独立 ICMP 验证：4/4 收到，丢包率 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DA1D23-ECD0-4985-BAC1-5703179F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BB8A49-B5AE-4720-9F8C-59A00F255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rPr>
              <a:t>Week 2：抓包 38 个，SCTP 8 / GTP-U 10 / ICMP 20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23C1FC-F4AC-47D4-9250-CBF4BA4E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49F109-18A6-4F95-A9F1-AC64FDFA2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rPr>
              <a:t>另一轮 ICMP 验证：5/5 收到，丢包率 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1843B5-C089-419D-8249-5C6A2436E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619250"/>
            <a:ext cx="52387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AC47FE-BEA5-4ACF-8BC6-5A243476C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143125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422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D22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D223A"/>
                </a:solidFill>
                <a:latin typeface="Microsoft YaHei"/>
                <a:ea typeface="Microsoft YaHei"/>
                <a:cs typeface="Microsoft YaHei"/>
              </a:rPr>
              <a:t>UE → gNB → AMF / SMF → UPF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6BE011-A13C-43EE-8C27-D37A93C99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952750"/>
            <a:ext cx="4286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rPr>
              <a:t>N2 控制面：SCTP / NGAP</a:t>
            </a:r>
          </a:p>
          <a:p xmlns:a="http://schemas.openxmlformats.org/drawingml/2006/main">
            <a:pPr>
              <a:defRPr sz="180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rPr>
              <a:t>N3 用户面：GTP-U</a:t>
            </a:r>
          </a:p>
          <a:p xmlns:a="http://schemas.openxmlformats.org/drawingml/2006/main">
            <a:pPr>
              <a:defRPr sz="180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rPr>
              <a:t>最终用户数据：ICMP</a:t>
            </a:r>
          </a:p>
        </p:txBody>
      </p:sp>
    </p:spTree>
    <p:extLst>
      <p:ext uri="{BB962C8B-B14F-4D97-AF65-F5344CB8AC3E}">
        <p14:creationId xmlns:p14="http://schemas.microsoft.com/office/powerpoint/2010/main" val="19905630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97C0D8-63CA-457F-B0E6-CF807414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DE2E72-AACB-4634-8899-8316A556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350"/>
            <a:ext cx="12192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3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6CD8B8-CBEA-49B8-A564-C95B40966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3 周：数据资产与预处理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7929F4-C518-4A8F-871C-11F60545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083"/>
                </a:solidFill>
                <a:latin typeface="Microsoft YaHei"/>
                <a:ea typeface="Microsoft YaHei"/>
                <a:cs typeface="Microsoft YaHei"/>
              </a:rPr>
              <a:t>840 × 2880 / 清洗与归一化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B31C19-2116-4629-AD39-4B3CB874C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0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0708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565721-14F1-4ADC-9365-6A442540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335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D81B7B-F8A4-4D98-85BA-D1D46A50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38300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rPr>
              <a:t>840 个时间点，2880 个 Beam/KPI 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E9949A-97C7-4543-A1F2-532E8473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955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FA7FB9-9972-46BD-B8FF-AC84A3ED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rPr>
              <a:t>共 2,419,200 个 KPI 数值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9556B3-DAF6-4353-BF6D-BF917B45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67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C38E86-D9DD-40CD-ABD4-CE42CD246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71825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rPr>
              <a:t>清洗：缺失、重复、异常列；再做归一化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7506DE-1F40-4BE4-AFD8-B7FC2EBB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67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64C50E-6D98-4DC8-A1A8-C4D8A12F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71950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rPr>
              <a:t>原始 CSV 未恢复；可复核清洗与归一化结果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c10397a38f4eb9"/>
          <a:stretch xmlns:a="http://schemas.openxmlformats.org/drawingml/2006/main"/>
        </p:blipFill>
        <p:spPr>
          <a:xfrm xmlns:a="http://schemas.openxmlformats.org/drawingml/2006/main">
            <a:off x="6048375" y="2178844"/>
            <a:ext cx="5191125" cy="259556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667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42D9B8-BF1E-4DEB-8E39-1CC425DB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98919B-7913-48F3-9CF5-45FA9AFCD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350"/>
            <a:ext cx="12192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3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08D0AF-B85B-4B60-9257-6DDE4A021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周：传统模型的基线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04BEA4-2735-49BE-82AB-0879AB539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083"/>
                </a:solidFill>
                <a:latin typeface="Microsoft YaHei"/>
                <a:ea typeface="Microsoft YaHei"/>
                <a:cs typeface="Microsoft YaHei"/>
              </a:rPr>
              <a:t>同一全网平均 KPI 任务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FB3299-645D-4FB0-AC12-A74F945D5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0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07083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32A264-001C-4131-AF62-0A9A685E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C2D7F0-7EC8-42EB-986D-D039A4901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rPr>
              <a:t>比较线性回归、决策树、随机森林与提升树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71B897-9E28-4E35-A053-15B7EE39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A2EC37-A8FE-49B3-AC68-CF21A502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rPr>
              <a:t>LightGBM：MAE 0.006212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8CCA2B-D5C1-40CC-ABD4-5F80B4DE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901865-FA0B-4CF2-B0E7-873A001B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848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rPr>
              <a:t>LightGBM：RMSE 0.007450，R² 0.971354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0FBD7E-FF1D-4135-98AD-6E9BEF05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339777-A79B-44E5-948A-16CD66178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0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rPr>
              <a:t>与持续值基线共同呈现，避免脱离任务比较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4d90ecfa2c4a89"/>
          <a:stretch xmlns:a="http://schemas.openxmlformats.org/drawingml/2006/main"/>
        </p:blipFill>
        <p:spPr>
          <a:xfrm xmlns:a="http://schemas.openxmlformats.org/drawingml/2006/main">
            <a:off x="6048375" y="2420541"/>
            <a:ext cx="5476875" cy="224551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378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1E3D6E-560D-4712-8DB7-EC31B087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FA15F8-049D-455B-AB52-09C31CDA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350"/>
            <a:ext cx="12192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3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D3DF11-E60F-4B42-9249-37C0DEB98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5 周：序列建模与消融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D0AC81-D0CD-40FC-A984-6CCA21417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083"/>
                </a:solidFill>
                <a:latin typeface="Microsoft YaHei"/>
                <a:ea typeface="Microsoft YaHei"/>
                <a:cs typeface="Microsoft YaHei"/>
              </a:rPr>
              <a:t>LSTM / GRU / Transformer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07E361-6C7B-40F6-BEF2-CE301823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0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07083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F776F4-44DD-41E6-8974-6F304D168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90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725EB7-CB15-4BC8-B0E3-4221426B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rPr>
              <a:t>历史 Transformer：MAE 0.007234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547779-6DA8-483E-98FF-19A64E85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622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81E18D-57B6-41C4-AEB3-894027C0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66975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rPr>
              <a:t>历史 Transformer：RMSE 0.008868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5EC441-7B1A-4AF2-BD19-AAFC7D55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432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E79A44-A219-47F3-A053-6E595052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48025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rPr>
              <a:t>固定种子的补充消融：完整模型与三项删减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E33E1E-A945-48CF-9B84-45A52102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719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DC7679-47A7-4564-8AEE-87ADA43D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76725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rPr>
              <a:t>两批实验划分不同；不做直接胜负结论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0726e76ba94931"/>
          <a:stretch xmlns:a="http://schemas.openxmlformats.org/drawingml/2006/main"/>
        </p:blipFill>
        <p:spPr>
          <a:xfrm xmlns:a="http://schemas.openxmlformats.org/drawingml/2006/main">
            <a:off x="6048375" y="2050521"/>
            <a:ext cx="5476875" cy="304270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1834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AE49C0-670A-4F7E-BB86-ED09C6FE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CBC17D-89B3-4192-B8D2-D2DB83B4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350"/>
            <a:ext cx="12192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3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906129-AED9-4D1A-BE09-BA86A2DD3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6 周：为什么 3σ / IQR 都为零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AF1F8D-A684-4E33-BCAB-424F60C35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083"/>
                </a:solidFill>
                <a:latin typeface="Microsoft YaHei"/>
                <a:ea typeface="Microsoft YaHei"/>
                <a:cs typeface="Microsoft YaHei"/>
              </a:rPr>
              <a:t>统计阈值的解释 / 不是检测器失效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A76C75-3511-4C92-929E-7A8E990E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0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07083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8E6D36-6240-4D1D-AB3A-00AB5C3E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EBA068-C6DB-429F-B6A6-044F5234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19250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rPr>
              <a:t>输入是每时刻 2880 KPI 的全网均值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490F6C-F727-40A4-9C14-93371A304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241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1E98FF-BE56-45CB-9FA4-A177A0AB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28875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rPr>
              <a:t>3σ 范围：0.008139–0.272956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032A2D-9351-4218-A00A-EA620FBB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575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1F58ED-01C2-4089-8B36-B324A9B47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62300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rPr>
              <a:t>IQR 范围：−0.019245–0.290388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6923A9-86DA-4A84-97D3-27542B1B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71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AB4C5F-9F2A-4339-9BAC-D158CBE3B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rPr>
              <a:t>实际均值范围：0.037710–0.210499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B5E138-F512-4F3D-A0B9-3BFEBC840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E8CE8F-C6BC-4668-A26A-54E88A170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67250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rPr>
              <a:t>聚合抹平局部突变；多维模型仍发现候选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0156d20468431a"/>
          <a:stretch xmlns:a="http://schemas.openxmlformats.org/drawingml/2006/main"/>
        </p:blipFill>
        <p:spPr>
          <a:xfrm xmlns:a="http://schemas.openxmlformats.org/drawingml/2006/main">
            <a:off x="6191250" y="1976438"/>
            <a:ext cx="5000625" cy="3000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5622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2194C0-6AB7-4053-9495-833E3527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09BBCD-AC05-4ADC-87D6-C4565338C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350"/>
            <a:ext cx="12192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3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65A27C-E376-41C5-8032-262F0E10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多维异常检测结果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41EB83-3B98-460A-A720-9A1E4E578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083"/>
                </a:solidFill>
                <a:latin typeface="Microsoft YaHei"/>
                <a:ea typeface="Microsoft YaHei"/>
                <a:cs typeface="Microsoft YaHei"/>
              </a:rPr>
              <a:t>Isolation Forest / One-Class SVM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E90C8D-9238-45D4-86AB-4C70BF39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0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07083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DBF516-9E62-420A-9DA5-EFEED038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573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4E082D-0C62-4C8B-A158-BC93EFDCE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62125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rPr>
              <a:t>Isolation Forest：26 个候选时间点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ABECF8-277E-421A-BC5D-405DAA9A4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511937-571E-447A-B5EA-2E096B25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rPr>
              <a:t>One-Class SVM：31 个候选时间点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F44775-B3EB-4F06-86C7-CE7AAE2F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76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3873D6-3BAD-4EDE-A97D-6A86FF484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81375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rPr>
              <a:t>交集 17 个；并集 40 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8A484D-8A73-4536-BB17-E877D62A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723A5C-A80F-45B6-893E-D93700A2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81500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rPr>
              <a:t>无真实故障标签：候选不等于确诊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76bdd595f6461e"/>
          <a:stretch xmlns:a="http://schemas.openxmlformats.org/drawingml/2006/main"/>
        </p:blipFill>
        <p:spPr>
          <a:xfrm xmlns:a="http://schemas.openxmlformats.org/drawingml/2006/main">
            <a:off x="6048375" y="1671638"/>
            <a:ext cx="5429250" cy="38004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4677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DA2732-3F75-45A3-9B63-2FAB0337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736622-F8AE-4703-9191-90BCAC39C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350"/>
            <a:ext cx="12192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3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44AF08-7451-4B9B-AAA8-CB1C6309A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根因候选 KPI：字段与含义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70B1F2-5704-48CB-97CC-28A2AB2E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083"/>
                </a:solidFill>
                <a:latin typeface="Microsoft YaHei"/>
                <a:ea typeface="Microsoft YaHei"/>
                <a:cs typeface="Microsoft YaHei"/>
              </a:rPr>
              <a:t>差异、相关性与排序 / 非因果证明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838007-B0FB-4037-8F7E-CBA26EB2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0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07083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825E9C-6365-4ABD-9E8A-4304F886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00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4C64A8-5B6C-4A12-9D93-E653395B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04950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rPr>
              <a:t>mean_diff：异常/正常组的均值差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E59124-3328-4B83-AA61-7EA80540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955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3AFDEF-1D94-45C3-9B70-EBFA9E85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0275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rPr>
              <a:t>std_diff：两组标准差之差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A09826-ADC8-467D-A617-07FEA8C35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90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52DD26-830D-4862-BCF4-08D377025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95600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rPr>
              <a:t>correlation：KPI 与异常标记的相关系数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59A872-7698-4C96-AD55-FE6F14D0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861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CE97EE-3B14-41FC-BA1C-A3086004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90925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rPr>
              <a:t>score：归一化绝对差异 0.5 / 0.2 / 0.3 加权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8FCA38-EF93-4073-ADAC-192816C4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19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F4F9A2-4FBC-43A3-A3BE-2E7B220DC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24375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rPr>
              <a:t>Top 1：1_1_22，得分 0.8887；需人工复核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3084699f0f4b8e"/>
          <a:stretch xmlns:a="http://schemas.openxmlformats.org/drawingml/2006/main"/>
        </p:blipFill>
        <p:spPr>
          <a:xfrm xmlns:a="http://schemas.openxmlformats.org/drawingml/2006/main">
            <a:off x="6191250" y="1709738"/>
            <a:ext cx="5048250" cy="35337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1109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75DB30-E936-4476-9539-72C5870F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DB4223-BDB0-4C95-975A-2B027E06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350"/>
            <a:ext cx="12192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3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586001-B506-45C8-834F-0637D528B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7 周：可交互 Web 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A183AF-3754-4861-AFA9-1C727AA5D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083"/>
                </a:solidFill>
                <a:latin typeface="Microsoft YaHei"/>
                <a:ea typeface="Microsoft YaHei"/>
                <a:cs typeface="Microsoft YaHei"/>
              </a:rPr>
              <a:t>Streamlit / 本地浏览器访问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E52698-8BAC-4463-B324-F7942FF5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0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07083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2DA4CC-611A-4751-B5F5-532E53A42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240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FD4690-8FD9-454E-BF3C-EE1AF1439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28775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rPr>
              <a:t>五页：总览、预测、异常、根因、数据浏览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F40714-A8E1-4403-B6B3-FD1A80C2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D93658-D340-4C94-9D85-9C179266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rPr>
              <a:t>预测组、模型、异常策略和 Top N 可切换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7AEF6A-C421-44F4-AD49-135B317BB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194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964233-EBFB-4D9F-B8EB-70A1820C3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24225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rPr>
              <a:t>数据页支持 KPI 选择与时间范围筛选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3D8FF5-1A7C-4A47-B5F5-FA79C673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10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A6D26A-67D1-4AF5-BEA7-C059991EF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14825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rPr>
              <a:t>本地启动后访问 http://localhost:8501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6D0500-7D73-4B2B-87D1-A594222CC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57350"/>
            <a:ext cx="504825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8A6B72-BB22-4F35-BC96-25D51DF1F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81200"/>
            <a:ext cx="428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D22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D223A"/>
                </a:solidFill>
                <a:latin typeface="Microsoft YaHei"/>
                <a:ea typeface="Microsoft YaHei"/>
                <a:cs typeface="Microsoft YaHei"/>
              </a:rPr>
              <a:t>5G AI Dashboard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D854D1-6766-48D3-B4EC-87DDF678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14625"/>
            <a:ext cx="3524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7ECF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A77E60-3C7C-484B-BB48-F136F86C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3367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rPr>
              <a:t>系统总览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5A7441-C4F5-4E43-9F86-08EF14DB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62300"/>
            <a:ext cx="3524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707E89-4149-465D-9D59-2FA9A35E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813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rPr>
              <a:t>KPI 预测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3BEF66-EE9D-4A1C-A99E-45F1FFE04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09975"/>
            <a:ext cx="3524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BFFFCC-1ECC-457E-8BC2-0D37E39B7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290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rPr>
              <a:t>异常检测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8975C3-C6C3-4482-B16F-6229065C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57650"/>
            <a:ext cx="3524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3EFC74-D9D8-4D6F-8F20-F25C146A3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767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rPr>
              <a:t>根因候选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BBF738-9D22-4D69-BA1F-7631355A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05325"/>
            <a:ext cx="3524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85E669-2EE9-4D63-A338-297F9AF0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2437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rPr>
              <a:t>数据浏览</a:t>
            </a:r>
          </a:p>
        </p:txBody>
      </p:sp>
    </p:spTree>
    <p:extLst>
      <p:ext uri="{BB962C8B-B14F-4D97-AF65-F5344CB8AC3E}">
        <p14:creationId xmlns:p14="http://schemas.microsoft.com/office/powerpoint/2010/main" val="20876426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5F62D1-DD9F-4551-8A49-C8489431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09E2D3-E73B-4E87-8A0E-A8B96F639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350"/>
            <a:ext cx="12192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3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9ABF14-4769-4B37-9E2C-E6D52297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8 周：测试与工程整理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505A43-0872-4D52-A125-C3BDC4A5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083"/>
                </a:solidFill>
                <a:latin typeface="Microsoft YaHei"/>
                <a:ea typeface="Microsoft YaHei"/>
                <a:cs typeface="Microsoft YaHei"/>
              </a:rPr>
              <a:t>扩展验收 / 干净目录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E312B9-F2A6-400C-B601-D2ADBD87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0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07083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E3E4B1-8294-426E-B912-F0E721BD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43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04BBE4-ED12-42A4-8143-08680435F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47825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rPr>
              <a:t>9 项测试通过：数据一致性、启动与页面交互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1D28D4-3927-4FF8-B099-7196FB161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812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56D539-2442-4106-B99E-FC74B67E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86025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rPr>
              <a:t>启动测试：独立端口、健康检查、首页返回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C011F6-0F55-41D2-BFB3-58676E60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57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EEC84B-FBF6-46AC-92B2-E1C12CB3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62325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rPr>
              <a:t>交互测试：导航、模型、异常策略、根因筛选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D96E24-1AE1-42AB-A122-5F8592640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910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0B201E-294F-4489-ACE4-E2FBB987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95775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rPr>
              <a:t>精简工程保留关键脚本、结果、图与文档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D5F177-8B62-4923-BECC-E0DD9AF7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19250"/>
            <a:ext cx="48577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34A6E1-3719-4289-8759-EFB6FA06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7167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D22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D223A"/>
                </a:solidFill>
                <a:latin typeface="Microsoft YaHei"/>
                <a:ea typeface="Microsoft YaHei"/>
                <a:cs typeface="Microsoft YaHei"/>
              </a:rPr>
              <a:t>验证链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899D55-9751-4202-A680-040E0F0A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67000"/>
            <a:ext cx="4000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rPr>
              <a:t>数据文件 → 模型结果 → 页面读取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rPr>
              <a:t>本地进程 → HTTP 健康检查 → 首页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rPr>
              <a:t>AppTest → 切换与筛选 → 状态断言</a:t>
            </a:r>
          </a:p>
        </p:txBody>
      </p:sp>
    </p:spTree>
    <p:extLst>
      <p:ext uri="{BB962C8B-B14F-4D97-AF65-F5344CB8AC3E}">
        <p14:creationId xmlns:p14="http://schemas.microsoft.com/office/powerpoint/2010/main" val="11699581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9DAA4B-A28A-4A1A-8A1A-31A340FA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16E648-1404-4CFB-8A99-4306E1DB3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350"/>
            <a:ext cx="12192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3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E1DDDB-0DB9-4D67-A447-0EBFC870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结论与交付边界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C90C59-3989-474B-B531-4B41F6F7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083"/>
                </a:solidFill>
                <a:latin typeface="Microsoft YaHei"/>
                <a:ea typeface="Microsoft YaHei"/>
                <a:cs typeface="Microsoft YaHei"/>
              </a:rPr>
              <a:t>技术报告 / PPT / 工程代码与文档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FA0112-67CA-41A1-90F0-49186ACC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0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07083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4F8D09-D487-48FA-9335-1D264B86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335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6B1E72-14AE-4662-8014-61525D53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38300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rPr>
              <a:t>预测、异常候选和 Web 展示已形成闭环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D8CB3D-0FE0-4125-BC9E-019B0F1A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241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E489C2-1871-4BFF-A02A-1E39EDA32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28875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rPr>
              <a:t>统计零异常已说明；候选 KPI 含义已定义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2B9BE6-5C1C-4EBE-A7AC-4D78911F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813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C47868-E007-45AD-B2D8-15AA1103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86125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rPr>
              <a:t>结项报告超过 8000 汉字，包含图表与限制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037E4C-87C0-4CB6-B263-50716E533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67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672581-163C-44DF-8D90-BE78D215C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71950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23044"/>
                </a:solidFill>
                <a:latin typeface="Microsoft YaHei"/>
                <a:ea typeface="Microsoft YaHei"/>
                <a:cs typeface="Microsoft YaHei"/>
              </a:rPr>
              <a:t>原始 CSV 与旧 Ubuntu 环境缺失，历史重放受限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7882D8-A654-44A5-B2D7-E5B4B4869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85925"/>
            <a:ext cx="4905375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9DE6E6-190E-4510-893E-B32E202A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66925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D22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D223A"/>
                </a:solidFill>
                <a:latin typeface="Microsoft YaHei"/>
                <a:ea typeface="Microsoft YaHei"/>
                <a:cs typeface="Microsoft YaHei"/>
              </a:rPr>
              <a:t>交付原则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0CD450-9D10-4620-A499-8937688F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00375"/>
            <a:ext cx="4095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6C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6C94"/>
                </a:solidFill>
                <a:latin typeface="Microsoft YaHei"/>
                <a:ea typeface="Microsoft YaHei"/>
                <a:cs typeface="Microsoft YaHei"/>
              </a:rPr>
              <a:t>可运行  ·  可检查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1">
                <a:solidFill>
                  <a:srgbClr val="146C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6C94"/>
                </a:solidFill>
                <a:latin typeface="Microsoft YaHei"/>
                <a:ea typeface="Microsoft YaHei"/>
                <a:cs typeface="Microsoft YaHei"/>
              </a:rPr>
              <a:t>可追溯  ·  不夸大</a:t>
            </a:r>
          </a:p>
        </p:txBody>
      </p:sp>
    </p:spTree>
    <p:extLst>
      <p:ext uri="{BB962C8B-B14F-4D97-AF65-F5344CB8AC3E}">
        <p14:creationId xmlns:p14="http://schemas.microsoft.com/office/powerpoint/2010/main" val="11653470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2026-09-26T03:10:12.4970000Z</dcterms:created>
  <dcterms:modified xsi:type="dcterms:W3CDTF">2026-09-26T03:10:12.4970000Z</dcterms:modified>
</coreProperties>
</file>